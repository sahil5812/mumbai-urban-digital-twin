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772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B6D4"/>
                </a:solidFill>
                <a:latin typeface="Calibri"/>
              </a:defRPr>
            </a:pPr>
            <a:r>
              <a:t>SMART INDIA HACKATHON 2026  •  OFFICIAL IDEA SUBMISSION  •  PROBLEM STATEMENT ID: 26085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000" b="1">
                <a:solidFill>
                  <a:srgbClr val="F8FAFC"/>
                </a:solidFill>
                <a:latin typeface="Calibri"/>
              </a:defRPr>
            </a:pPr>
            <a:r>
              <a:t>JAL-DRISHTI</a:t>
            </a:r>
          </a:p>
          <a:p>
            <a:pPr>
              <a:spcAft>
                <a:spcPts val="800"/>
              </a:spcAft>
              <a:defRPr sz="2000" b="1">
                <a:solidFill>
                  <a:srgbClr val="38BDF8"/>
                </a:solidFill>
                <a:latin typeface="Calibri"/>
              </a:defRPr>
            </a:pPr>
            <a:r>
              <a:t>Urban Flood Nowcasting System via Surface-Subsurface Hydraulic Coupling</a:t>
            </a:r>
          </a:p>
          <a:p>
            <a:pPr>
              <a:defRPr sz="1250" i="1">
                <a:solidFill>
                  <a:srgbClr val="94A3B8"/>
                </a:solidFill>
                <a:latin typeface="Calibri"/>
              </a:defRPr>
            </a:pPr>
            <a:r>
              <a:t>“See the Flood Before It Happens — Coupling Doppler Nowcasts, 2D DEM Topography, and Underground Drainage Graphs for Hyper-Local Inundation Prediction &amp; Emergency Routing”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3413455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023360"/>
            <a:ext cx="29562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A855F7"/>
                </a:solidFill>
                <a:latin typeface="Calibri"/>
              </a:defRPr>
            </a:pPr>
            <a:r>
              <a:t>ORGANIZATION &amp; THEME</a:t>
            </a:r>
          </a:p>
          <a:p>
            <a:pPr>
              <a:defRPr sz="1050">
                <a:solidFill>
                  <a:srgbClr val="F8FAFC"/>
                </a:solidFill>
                <a:latin typeface="Calibri"/>
              </a:defRPr>
            </a:pPr>
            <a:r>
              <a:t>Ministry of Earth Sciences (MoES)</a:t>
            </a:r>
            <a:br/>
            <a:r>
              <a:t>NCMRWF • Disaster Management</a:t>
            </a:r>
            <a:br/>
            <a:r>
              <a:t>Category: Software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840480"/>
            <a:ext cx="3413455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4023360"/>
            <a:ext cx="29562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6B6D4"/>
                </a:solidFill>
                <a:latin typeface="Calibri"/>
              </a:defRPr>
            </a:pPr>
            <a:r>
              <a:t>KEY TECHNICAL INNOVATION</a:t>
            </a:r>
          </a:p>
          <a:p>
            <a:pPr>
              <a:defRPr sz="1050">
                <a:solidFill>
                  <a:srgbClr val="F8FAFC"/>
                </a:solidFill>
                <a:latin typeface="Calibri"/>
              </a:defRPr>
            </a:pPr>
            <a:r>
              <a:t>Coupling Rational Runoff + 2D DEM Slope</a:t>
            </a:r>
            <a:br/>
            <a:r>
              <a:t>+ Manning's Pipe Hydraulics + Tidal Lock</a:t>
            </a:r>
            <a:br/>
            <a:r>
              <a:t>+ 0-180m Forecast Timeline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840480"/>
            <a:ext cx="3413455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4023360"/>
            <a:ext cx="29562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59E0B"/>
                </a:solidFill>
                <a:latin typeface="Calibri"/>
              </a:defRPr>
            </a:pPr>
            <a:r>
              <a:t>TEAM INFORMATION</a:t>
            </a:r>
          </a:p>
          <a:p>
            <a:pPr>
              <a:defRPr sz="1050">
                <a:solidFill>
                  <a:srgbClr val="F8FAFC"/>
                </a:solidFill>
                <a:latin typeface="Calibri"/>
              </a:defRPr>
            </a:pPr>
            <a:r>
              <a:t>Team Name: [Your Team Name]</a:t>
            </a:r>
            <a:br/>
            <a:r>
              <a:t>Team ID: [Your Team ID / SIH-26085]</a:t>
            </a:r>
            <a:br/>
            <a:r>
              <a:t>Lead: [Team Leader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6B6D4"/>
                </a:solidFill>
                <a:latin typeface="Calibri"/>
              </a:defRPr>
            </a:pPr>
            <a:r>
              <a:t>PS ID: 26085 | MOES / NCMRWF | THEME: DISASTER MANAGEMENT</a:t>
            </a:r>
          </a:p>
          <a:p>
            <a:pPr>
              <a:defRPr sz="2000" b="1">
                <a:solidFill>
                  <a:srgbClr val="F8FAFC"/>
                </a:solidFill>
                <a:latin typeface="Calibri"/>
              </a:defRPr>
            </a:pPr>
            <a:r>
              <a:t>From Rainfall Forecast to Street-Level Flood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0" y="3657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2286000"/>
          </a:xfrm>
          <a:prstGeom prst="roundRect">
            <a:avLst/>
          </a:prstGeom>
          <a:solidFill>
            <a:srgbClr val="261820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EF4444"/>
                </a:solidFill>
              </a:defRPr>
            </a:pPr>
            <a:r>
              <a:t>THE PROBLEM: WHY REGIONAL WEATHER FORECASTS FAIL</a:t>
            </a:r>
          </a:p>
          <a:p>
            <a:pPr>
              <a:spcAft>
                <a:spcPts val="200"/>
              </a:spcAft>
              <a:defRPr sz="950">
                <a:solidFill>
                  <a:srgbClr val="F8FAFC"/>
                </a:solidFill>
              </a:defRPr>
            </a:pPr>
            <a:r>
              <a:t>• Traditional NWP models answer 'How much rain is coming?' over a macro 25km² grid, but cannot predict which street will submerge.</a:t>
            </a:r>
          </a:p>
          <a:p>
            <a:pPr>
              <a:spcAft>
                <a:spcPts val="200"/>
              </a:spcAft>
              <a:defRPr sz="950">
                <a:solidFill>
                  <a:srgbClr val="F8FAFC"/>
                </a:solidFill>
              </a:defRPr>
            </a:pPr>
            <a:r>
              <a:t>• Urban flooding is hyper-local: governed by saucer depressions (Milan / Hindmata), concrete runoff (C=0.88), and choked underground drains.</a:t>
            </a:r>
          </a:p>
          <a:p>
            <a:pPr>
              <a:spcAft>
                <a:spcPts val="200"/>
              </a:spcAft>
              <a:defRPr sz="950">
                <a:solidFill>
                  <a:srgbClr val="F8FAFC"/>
                </a:solidFill>
              </a:defRPr>
            </a:pPr>
            <a:r>
              <a:t>• Municipal disaster bodies lack real-time street-level predictive tools, causing traffic gridlocks, stranded ambulances, and economic loss.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120640" cy="2468880"/>
          </a:xfrm>
          <a:prstGeom prst="roundRect">
            <a:avLst/>
          </a:prstGeom>
          <a:solidFill>
            <a:srgbClr val="10252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OUR SOLUTION: COUPLED SURFACE-SUBSURFACE NOWCASTING</a:t>
            </a:r>
          </a:p>
          <a:p>
            <a:pPr>
              <a:spcAft>
                <a:spcPts val="200"/>
              </a:spcAft>
              <a:defRPr sz="950">
                <a:solidFill>
                  <a:srgbClr val="F8FAFC"/>
                </a:solidFill>
              </a:defRPr>
            </a:pPr>
            <a:r>
              <a:t>• Fuses rainfall nowcasts with 2D DEM slope routing, Manning's pipe hydraulics, and Arabian Sea tidal backflow lock (&gt;3.5m).</a:t>
            </a:r>
          </a:p>
          <a:p>
            <a:pPr>
              <a:spcAft>
                <a:spcPts val="200"/>
              </a:spcAft>
              <a:defRPr sz="950">
                <a:solidFill>
                  <a:srgbClr val="F8FAFC"/>
                </a:solidFill>
              </a:defRPr>
            </a:pPr>
            <a:r>
              <a:t>• Predicts exact street inundation depth (cm) across 0–3h forward windows (T+0, +15m, +30m, +60m, +120m, +180m).</a:t>
            </a:r>
          </a:p>
          <a:p>
            <a:pPr>
              <a:spcAft>
                <a:spcPts val="200"/>
              </a:spcAft>
              <a:defRPr sz="950">
                <a:solidFill>
                  <a:srgbClr val="F8FAFC"/>
                </a:solidFill>
              </a:defRPr>
            </a:pPr>
            <a:r>
              <a:t>• ML-assisted Voting Regressor (RF + GBR) delivers sub-50ms inference for 41 real Mumbai infrastructure nodes.</a:t>
            </a:r>
          </a:p>
          <a:p>
            <a:pPr>
              <a:spcAft>
                <a:spcPts val="200"/>
              </a:spcAft>
              <a:defRPr sz="950">
                <a:solidFill>
                  <a:srgbClr val="F8FAFC"/>
                </a:solidFill>
              </a:defRPr>
            </a:pPr>
            <a:r>
              <a:t>• Inundation-Aware Dijkstra Emergency Detours steer ambulances and transit away from submerged underpasses.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5333695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END-TO-END PHYSICAL COUPLING PIPELINE</a:t>
            </a:r>
          </a:p>
          <a:p>
            <a:pPr>
              <a:spcAft>
                <a:spcPts val="300"/>
              </a:spcAft>
              <a:defRPr sz="900">
                <a:solidFill>
                  <a:srgbClr val="F8FAFC"/>
                </a:solidFill>
              </a:defRPr>
            </a:pPr>
            <a:r>
              <a:t>▶ 1. RAINFALL NOWCAST (0-3h): Ingests real-time precipitation streams &amp; 15-min radar forecast intervals</a:t>
            </a:r>
          </a:p>
          <a:p>
            <a:pPr>
              <a:spcAft>
                <a:spcPts val="300"/>
              </a:spcAft>
              <a:defRPr sz="900">
                <a:solidFill>
                  <a:srgbClr val="F8FAFC"/>
                </a:solidFill>
              </a:defRPr>
            </a:pPr>
            <a:r>
              <a:t>▶ 2. RUNOFF HYDROLOGY: Rational Method (Q = CIA/3.6) modeling dense urban concrete imperviousness (C=0.88)</a:t>
            </a:r>
          </a:p>
          <a:p>
            <a:pPr>
              <a:spcAft>
                <a:spcPts val="300"/>
              </a:spcAft>
              <a:defRPr sz="900">
                <a:solidFill>
                  <a:srgbClr val="F8FAFC"/>
                </a:solidFill>
              </a:defRPr>
            </a:pPr>
            <a:r>
              <a:t>▶ 3. 2D DEM TOPOGRAPHY: D8 Flow Direction &amp; Slope Gradient (ΔZ/ΔX) routing runoff into saucer depressions</a:t>
            </a:r>
          </a:p>
          <a:p>
            <a:pPr>
              <a:spcAft>
                <a:spcPts val="300"/>
              </a:spcAft>
              <a:defRPr sz="900">
                <a:solidFill>
                  <a:srgbClr val="F8FAFC"/>
                </a:solidFill>
              </a:defRPr>
            </a:pPr>
            <a:r>
              <a:t>▶ 4. DRAINAGE HYDRAULICS: Manning's open-channel capacity + siltation reduction + Arabian Sea tide lock (&gt;3.5m)</a:t>
            </a:r>
          </a:p>
          <a:p>
            <a:pPr>
              <a:spcAft>
                <a:spcPts val="300"/>
              </a:spcAft>
              <a:defRPr sz="900">
                <a:solidFill>
                  <a:srgbClr val="F8FAFC"/>
                </a:solidFill>
              </a:defRPr>
            </a:pPr>
            <a:r>
              <a:t>▶ 5. ML DEPTH PREDICTION: Ensemble Regressor estimating street-level water depth in cm &amp; failure risk %</a:t>
            </a:r>
          </a:p>
          <a:p>
            <a:pPr>
              <a:spcAft>
                <a:spcPts val="300"/>
              </a:spcAft>
              <a:defRPr sz="900">
                <a:solidFill>
                  <a:srgbClr val="F8FAFC"/>
                </a:solidFill>
              </a:defRPr>
            </a:pPr>
            <a:r>
              <a:t>▶ 6. 3D GIS DIGITAL TWIN: GPU-accelerated Deck.gl v9 + MapLibre GL 3D extruded columns &amp; 360° drone orbit</a:t>
            </a:r>
          </a:p>
          <a:p>
            <a:pPr>
              <a:spcAft>
                <a:spcPts val="300"/>
              </a:spcAft>
              <a:defRPr sz="900">
                <a:solidFill>
                  <a:srgbClr val="F8FAFC"/>
                </a:solidFill>
              </a:defRPr>
            </a:pPr>
            <a:r>
              <a:t>▶ 7. FLOOD-AWARE ROUTING: Dijkstra routing with dynamic flood cost penalties (depth ≥50cm → 9999 cost)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5349240"/>
            <a:ext cx="4967935" cy="822960"/>
          </a:xfrm>
          <a:prstGeom prst="roundRect">
            <a:avLst/>
          </a:prstGeom>
          <a:solidFill>
            <a:srgbClr val="182630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94960"/>
            <a:ext cx="47850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CORE INNOVATION: Physical Coupling of Sky (Radar), Surface (2D DEM), Subsurface (Manning's Drains), and Maritime Tide in One Real-Time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6B6D4"/>
                </a:solidFill>
                <a:latin typeface="Calibri"/>
              </a:defRPr>
            </a:pPr>
            <a:r>
              <a:t>PS ID: 26085 | MOES / NCMRWF | THEME: DISASTER MANAGEMENT</a:t>
            </a:r>
          </a:p>
          <a:p>
            <a:pPr>
              <a:defRPr sz="2000" b="1">
                <a:solidFill>
                  <a:srgbClr val="F8FAFC"/>
                </a:solidFill>
                <a:latin typeface="Calibri"/>
              </a:defRPr>
            </a:pPr>
            <a:r>
              <a:t>Technical Architecture &amp; Physics-Informed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0" y="3657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6B6D4"/>
                </a:solidFill>
              </a:defRPr>
            </a:pPr>
            <a:r>
              <a:t>SYSTEM ARCHITECTURE FLOW</a:t>
            </a:r>
          </a:p>
          <a:p>
            <a:pPr>
              <a:spcAft>
                <a:spcPts val="500"/>
              </a:spcAft>
              <a:defRPr sz="850">
                <a:solidFill>
                  <a:srgbClr val="F8FAFC"/>
                </a:solidFill>
              </a:defRPr>
            </a:pPr>
            <a:r>
              <a:t>1. DATA INGESTION LAYER</a:t>
            </a:r>
            <a:br/>
            <a:r>
              <a:t>• Open-Meteo Live Precipitation Feeds</a:t>
            </a:r>
            <a:br/>
            <a:r>
              <a:t>• 41 Real CSV Infrastructure Nodes</a:t>
            </a:r>
            <a:br/>
            <a:r>
              <a:t>• Arabian Sea Tide Level Logs</a:t>
            </a:r>
          </a:p>
          <a:p>
            <a:pPr>
              <a:spcAft>
                <a:spcPts val="500"/>
              </a:spcAft>
              <a:defRPr sz="850">
                <a:solidFill>
                  <a:srgbClr val="F8FAFC"/>
                </a:solidFill>
              </a:defRPr>
            </a:pPr>
            <a:r>
              <a:t>2. COUPLING &amp; HYDROLOGY</a:t>
            </a:r>
            <a:br/>
            <a:r>
              <a:t>• Rational Method Runoff (C=0.88)</a:t>
            </a:r>
            <a:br/>
            <a:r>
              <a:t>• 2D DEM D8 Flow Routing Engine</a:t>
            </a:r>
            <a:br/>
            <a:r>
              <a:t>• Manning's Pipe Flow + Siltation %</a:t>
            </a:r>
          </a:p>
          <a:p>
            <a:pPr>
              <a:spcAft>
                <a:spcPts val="500"/>
              </a:spcAft>
              <a:defRPr sz="850">
                <a:solidFill>
                  <a:srgbClr val="F8FAFC"/>
                </a:solidFill>
              </a:defRPr>
            </a:pPr>
            <a:r>
              <a:t>3. PREDICTION &amp; GRAPH</a:t>
            </a:r>
            <a:br/>
            <a:r>
              <a:t>• Voting Regressor (RF + GBR)</a:t>
            </a:r>
            <a:br/>
            <a:r>
              <a:t>• NetworkX DiGraph Domino Chains</a:t>
            </a:r>
            <a:br/>
            <a:r>
              <a:t>• 0-180m Forecast Timeline</a:t>
            </a:r>
          </a:p>
          <a:p>
            <a:pPr>
              <a:spcAft>
                <a:spcPts val="500"/>
              </a:spcAft>
              <a:defRPr sz="850">
                <a:solidFill>
                  <a:srgbClr val="F8FAFC"/>
                </a:solidFill>
              </a:defRPr>
            </a:pPr>
            <a:r>
              <a:t>4. DECISION &amp; VISUALIZATION</a:t>
            </a:r>
            <a:br/>
            <a:r>
              <a:t>• Dijkstra Flood-Safe Navigation API</a:t>
            </a:r>
            <a:br/>
            <a:r>
              <a:t>• Deck.gl v9 3D WebGL Digital Twin</a:t>
            </a:r>
            <a:br/>
            <a:r>
              <a:t>• 360° Continuous Drone Orbit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93192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508760"/>
            <a:ext cx="36576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GOVERNING EQUATIONS &amp; LOGIC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Rational Hydrological Runoff:</a:t>
            </a:r>
          </a:p>
          <a:p>
            <a:pPr>
              <a:spcAft>
                <a:spcPts val="300"/>
              </a:spcAft>
              <a:defRPr sz="800">
                <a:solidFill>
                  <a:srgbClr val="F8FAFC"/>
                </a:solidFill>
              </a:defRPr>
            </a:pPr>
            <a:r>
              <a:t>Q_peak = 0.00278 • C • I • A</a:t>
            </a:r>
            <a:br/>
            <a:r>
              <a:t>(C=0.88 urban concrete, I=mm/h, A=catchment ha)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Manning's Open-Channel Pipe Flow:</a:t>
            </a:r>
          </a:p>
          <a:p>
            <a:pPr>
              <a:spcAft>
                <a:spcPts val="300"/>
              </a:spcAft>
              <a:defRPr sz="800">
                <a:solidFill>
                  <a:srgbClr val="F8FAFC"/>
                </a:solidFill>
              </a:defRPr>
            </a:pPr>
            <a:r>
              <a:t>Q_drain = (1/n) • A • R_h^(2/3) • S^(1/2) • (1 - Silt%/100)</a:t>
            </a:r>
            <a:br/>
            <a:r>
              <a:t>(n=0.015 concrete box conduits, S=0.002 slope)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2D DEM Topographic Slope Routing:</a:t>
            </a:r>
          </a:p>
          <a:p>
            <a:pPr>
              <a:spcAft>
                <a:spcPts val="300"/>
              </a:spcAft>
              <a:defRPr sz="800">
                <a:solidFill>
                  <a:srgbClr val="F8FAFC"/>
                </a:solidFill>
              </a:defRPr>
            </a:pPr>
            <a:r>
              <a:t>ΔZ/ΔX Slope Gradient + D8 Flow Direction routing runoff into low-elevation saucer basins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Tidal Backpressure Gate Lock:</a:t>
            </a:r>
          </a:p>
          <a:p>
            <a:pPr>
              <a:spcAft>
                <a:spcPts val="300"/>
              </a:spcAft>
              <a:defRPr sz="800">
                <a:solidFill>
                  <a:srgbClr val="F8FAFC"/>
                </a:solidFill>
              </a:defRPr>
            </a:pPr>
            <a:r>
              <a:t>Tide &gt; 3.5m THD locks flap gates; Usable drainage capacity drops to 15% triggering backflow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Dijkstra Dynamic Inundation Routing:</a:t>
            </a:r>
          </a:p>
          <a:p>
            <a:pPr>
              <a:spcAft>
                <a:spcPts val="300"/>
              </a:spcAft>
              <a:defRPr sz="800">
                <a:solidFill>
                  <a:srgbClr val="F8FAFC"/>
                </a:solidFill>
              </a:defRPr>
            </a:pPr>
            <a:r>
              <a:t>Edge_Cost = T_base • (1 + depth/8.0) + Penalty</a:t>
            </a:r>
            <a:br/>
            <a:r>
              <a:t>(Penalty = 9999 if depth ≥ 50cm - Impassable)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1371600"/>
            <a:ext cx="3047695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1508760"/>
            <a:ext cx="277337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VERIFIED STACK &amp; METRICS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Backend Framework:</a:t>
            </a:r>
          </a:p>
          <a:p>
            <a:pPr>
              <a:spcAft>
                <a:spcPts val="300"/>
              </a:spcAft>
              <a:defRPr sz="800">
                <a:solidFill>
                  <a:srgbClr val="F8FAFC"/>
                </a:solidFill>
              </a:defRPr>
            </a:pPr>
            <a:r>
              <a:t>FastAPI (Python 3.11), Uvicorn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Machine Learning:</a:t>
            </a:r>
          </a:p>
          <a:p>
            <a:pPr>
              <a:spcAft>
                <a:spcPts val="300"/>
              </a:spcAft>
              <a:defRPr sz="800">
                <a:solidFill>
                  <a:srgbClr val="F8FAFC"/>
                </a:solidFill>
              </a:defRPr>
            </a:pPr>
            <a:r>
              <a:t>Scikit-Learn VotingRegressor (Random Forest + Gradient Boosting)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Graph &amp; Routing:</a:t>
            </a:r>
          </a:p>
          <a:p>
            <a:pPr>
              <a:spcAft>
                <a:spcPts val="300"/>
              </a:spcAft>
              <a:defRPr sz="800">
                <a:solidFill>
                  <a:srgbClr val="F8FAFC"/>
                </a:solidFill>
              </a:defRPr>
            </a:pPr>
            <a:r>
              <a:t>NetworkX (DiGraph + Dijkstra)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Frontend UI:</a:t>
            </a:r>
          </a:p>
          <a:p>
            <a:pPr>
              <a:spcAft>
                <a:spcPts val="300"/>
              </a:spcAft>
              <a:defRPr sz="800">
                <a:solidFill>
                  <a:srgbClr val="F8FAFC"/>
                </a:solidFill>
              </a:defRPr>
            </a:pPr>
            <a:r>
              <a:t>Next.js 14 (App Router), React 18, TypeScript, Tailwind CSS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3D Geospatial Engine:</a:t>
            </a:r>
          </a:p>
          <a:p>
            <a:pPr>
              <a:spcAft>
                <a:spcPts val="300"/>
              </a:spcAft>
              <a:defRPr sz="800">
                <a:solidFill>
                  <a:srgbClr val="F8FAFC"/>
                </a:solidFill>
              </a:defRPr>
            </a:pPr>
            <a:r>
              <a:t>Deck.gl v9 (WebGL 2.0), MapLibre GL, Esri World Street Cartography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ML Training Pipeline:</a:t>
            </a:r>
          </a:p>
          <a:p>
            <a:pPr>
              <a:spcAft>
                <a:spcPts val="300"/>
              </a:spcAft>
              <a:defRPr sz="800">
                <a:solidFill>
                  <a:srgbClr val="F8FAFC"/>
                </a:solidFill>
              </a:defRPr>
            </a:pPr>
            <a:r>
              <a:t>Trained on 69,720 Mumbai AWS rainfall logs + 1,940 tide records</a:t>
            </a:r>
            <a:br/>
            <a:r>
              <a:t>• R² Score: 0.9856</a:t>
            </a:r>
            <a:br/>
            <a:r>
              <a:t>• MAE: 1.36 cm | RMSE: 2.22 cm</a:t>
            </a:r>
            <a:br/>
            <a:r>
              <a:t>• Latency: &lt;45 ms per simulation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6B6D4"/>
                </a:solidFill>
                <a:latin typeface="Calibri"/>
              </a:defRPr>
            </a:pPr>
            <a:r>
              <a:t>PS ID: 26085 | MOES / NCMRWF | THEME: DISASTER MANAGEMENT</a:t>
            </a:r>
          </a:p>
          <a:p>
            <a:pPr>
              <a:defRPr sz="2000" b="1">
                <a:solidFill>
                  <a:srgbClr val="F8FAFC"/>
                </a:solidFill>
                <a:latin typeface="Calibri"/>
              </a:defRPr>
            </a:pPr>
            <a:r>
              <a:t>Feasibility Analysis, Risks &amp; Mitigation Strategies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0" y="3657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</a:defRPr>
            </a:pPr>
            <a:r>
              <a:t>THREE-DIMENSIONAL FEASIBILITY VALIDATION</a:t>
            </a:r>
          </a:p>
          <a:p>
            <a:pPr>
              <a:spcAft>
                <a:spcPts val="200"/>
              </a:spcAft>
              <a:defRPr sz="900">
                <a:solidFill>
                  <a:srgbClr val="F8FAFC"/>
                </a:solidFill>
              </a:defRPr>
            </a:pPr>
            <a:r>
              <a:t>• TECHNICAL: Sub-50ms Python ML inference + WebGL GPU client rendering guarantees zero lag in emergency command rooms.</a:t>
            </a:r>
          </a:p>
          <a:p>
            <a:pPr>
              <a:spcAft>
                <a:spcPts val="200"/>
              </a:spcAft>
              <a:defRPr sz="900">
                <a:solidFill>
                  <a:srgbClr val="F8FAFC"/>
                </a:solidFill>
              </a:defRPr>
            </a:pPr>
            <a:r>
              <a:t>• OPERATIONAL: Direct REST API integration with municipal Disaster Management Control Rooms (BMC DMCR) &amp; Traffic Police.</a:t>
            </a:r>
          </a:p>
          <a:p>
            <a:pPr>
              <a:spcAft>
                <a:spcPts val="200"/>
              </a:spcAft>
              <a:defRPr sz="900">
                <a:solidFill>
                  <a:srgbClr val="F8FAFC"/>
                </a:solidFill>
              </a:defRPr>
            </a:pPr>
            <a:r>
              <a:t>• MULTI-CITY SCALABILITY: Decoupled modular design allows instant deployment in Delhi (Yamuna) or Chennai (Adyar/Cooum) by swapping DEM &amp; drainage GIS shapefiles.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80360"/>
            <a:ext cx="10728655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628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59E0B"/>
                </a:solidFill>
              </a:defRPr>
            </a:pPr>
            <a:r>
              <a:t>REAL-WORLD MUNICIPAL CHALLENGES &amp; OUR MITIGATION ARCHITECTURE</a:t>
            </a:r>
          </a:p>
          <a:p>
            <a:pPr>
              <a:spcAft>
                <a:spcPts val="250"/>
              </a:spcAft>
              <a:defRPr sz="850">
                <a:solidFill>
                  <a:srgbClr val="F8FAFC"/>
                </a:solidFill>
              </a:defRPr>
            </a:pPr>
            <a:r>
              <a:t>▶ Incomplete Subsurface Drainage Blueprints: Hybrid Fallback: Where pipe blueprints exist, Manning's flow is computed; where unmapped, DEM slope flow accumulation &amp; historical chronic waterlogging clusters take over.</a:t>
            </a:r>
          </a:p>
          <a:p>
            <a:pPr>
              <a:spcAft>
                <a:spcPts val="250"/>
              </a:spcAft>
              <a:defRPr sz="850">
                <a:solidFill>
                  <a:srgbClr val="F8FAFC"/>
                </a:solidFill>
              </a:defRPr>
            </a:pPr>
            <a:r>
              <a:t>▶ National Radar Feed Pipeline Latency: 15-minute forward predictive nowcast slots coupled with client-side wall-clock epoch timestamp countdowns ensure continuous early warning without lag.</a:t>
            </a:r>
          </a:p>
          <a:p>
            <a:pPr>
              <a:spcAft>
                <a:spcPts val="250"/>
              </a:spcAft>
              <a:defRPr sz="850">
                <a:solidFill>
                  <a:srgbClr val="F8FAFC"/>
                </a:solidFill>
              </a:defRPr>
            </a:pPr>
            <a:r>
              <a:t>▶ Extreme Cloudburst Outliers (&gt;200mm/h): Physics-based hydraulic ceiling (Rational Method) enforces conservation-of-mass upper bounds, preventing ML runaway over-predictions.</a:t>
            </a:r>
          </a:p>
          <a:p>
            <a:pPr>
              <a:spcAft>
                <a:spcPts val="250"/>
              </a:spcAft>
              <a:defRPr sz="850">
                <a:solidFill>
                  <a:srgbClr val="F8FAFC"/>
                </a:solidFill>
              </a:defRPr>
            </a:pPr>
            <a:r>
              <a:t>▶ Citywide Emergency Traffic Surges: Lightweight Next.js server-side API edge reverse proxy + stateless FastAPI Uvicorn backend capable of multi-core horizontal clustering.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94960"/>
            <a:ext cx="10728655" cy="100584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PRODUCTION DEPLOYMENT ROADMAP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Phase 1 (Current Prototype): 41-node Mumbai model with 0-3h nowcasting &amp; safe routing  ▶  Phase 2 (3 Months): Direct IMD S-Band Radar binary HDF5 parser &amp; PostGIS multi-ward database  ▶  Phase 3 (6 Months): Integration with BMC DMCR and state disaster management dashboards.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6B6D4"/>
                </a:solidFill>
                <a:latin typeface="Calibri"/>
              </a:defRPr>
            </a:pPr>
            <a:r>
              <a:t>PS ID: 26085 | MOES / NCMRWF | THEME: DISASTER MANAGEMENT</a:t>
            </a:r>
          </a:p>
          <a:p>
            <a:pPr>
              <a:defRPr sz="2000" b="1">
                <a:solidFill>
                  <a:srgbClr val="F8FAFC"/>
                </a:solidFill>
                <a:latin typeface="Calibri"/>
              </a:defRPr>
            </a:pPr>
            <a:r>
              <a:t>Multi-Sector Socio-Economic Impact &amp; Urban Resilience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0" y="3657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85232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9194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MUNICIPAL CORPORATIONS (BMC / MCGM)</a:t>
            </a:r>
          </a:p>
          <a:p>
            <a:pPr>
              <a:spcAft>
                <a:spcPts val="150"/>
              </a:spcAft>
              <a:defRPr sz="850">
                <a:solidFill>
                  <a:srgbClr val="F8FAFC"/>
                </a:solidFill>
              </a:defRPr>
            </a:pPr>
            <a:r>
              <a:t>• Shifts operations from reactive pumping (after 100cm flood) to predictive pre-charging (pumps armed 30m prior).</a:t>
            </a:r>
          </a:p>
          <a:p>
            <a:pPr>
              <a:spcAft>
                <a:spcPts val="150"/>
              </a:spcAft>
              <a:defRPr sz="850">
                <a:solidFill>
                  <a:srgbClr val="F8FAFC"/>
                </a:solidFill>
              </a:defRPr>
            </a:pPr>
            <a:r>
              <a:t>• Automated TOPSIS Priority Matrix ranks mobile pump dispatches by population density &amp; hospital access.</a:t>
            </a:r>
          </a:p>
          <a:p>
            <a:pPr>
              <a:spcAft>
                <a:spcPts val="150"/>
              </a:spcAft>
              <a:defRPr sz="850">
                <a:solidFill>
                  <a:srgbClr val="F8FAFC"/>
                </a:solidFill>
              </a:defRPr>
            </a:pPr>
            <a:r>
              <a:t>• Eliminates drainage surcharge damage via real-time sluice-gate coordination.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285232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08760"/>
            <a:ext cx="49194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EF4444"/>
                </a:solidFill>
              </a:defRPr>
            </a:pPr>
            <a:r>
              <a:t>EMERGENCY SERVICES &amp; HEALTHCARE</a:t>
            </a:r>
          </a:p>
          <a:p>
            <a:pPr>
              <a:spcAft>
                <a:spcPts val="150"/>
              </a:spcAft>
              <a:defRPr sz="850">
                <a:solidFill>
                  <a:srgbClr val="F8FAFC"/>
                </a:solidFill>
              </a:defRPr>
            </a:pPr>
            <a:r>
              <a:t>• Inundation-Aware Routing API (/api/graph/safe-route) steers ambulances away from flooded subways.</a:t>
            </a:r>
          </a:p>
          <a:p>
            <a:pPr>
              <a:spcAft>
                <a:spcPts val="150"/>
              </a:spcAft>
              <a:defRPr sz="850">
                <a:solidFill>
                  <a:srgbClr val="F8FAFC"/>
                </a:solidFill>
              </a:defRPr>
            </a:pPr>
            <a:r>
              <a:t>• Guarantees uninterrupted hospital transit corridors during peak monsoon downpours.</a:t>
            </a:r>
          </a:p>
          <a:p>
            <a:pPr>
              <a:spcAft>
                <a:spcPts val="150"/>
              </a:spcAft>
              <a:defRPr sz="850">
                <a:solidFill>
                  <a:srgbClr val="F8FAFC"/>
                </a:solidFill>
              </a:defRPr>
            </a:pPr>
            <a:r>
              <a:t>• Real-time road passability index (PCI &amp; water depth) prevents vehicle drowning.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5285232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94760"/>
            <a:ext cx="49194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59E0B"/>
                </a:solidFill>
              </a:defRPr>
            </a:pPr>
            <a:r>
              <a:t>PUBLIC TRANSIT &amp; COMMUTERS</a:t>
            </a:r>
          </a:p>
          <a:p>
            <a:pPr>
              <a:spcAft>
                <a:spcPts val="150"/>
              </a:spcAft>
              <a:defRPr sz="850">
                <a:solidFill>
                  <a:srgbClr val="F8FAFC"/>
                </a:solidFill>
              </a:defRPr>
            </a:pPr>
            <a:r>
              <a:t>• Advance 30-60 min alerts enable BEST bus diversion and suburban railway track water protection.</a:t>
            </a:r>
          </a:p>
          <a:p>
            <a:pPr>
              <a:spcAft>
                <a:spcPts val="150"/>
              </a:spcAft>
              <a:defRPr sz="850">
                <a:solidFill>
                  <a:srgbClr val="F8FAFC"/>
                </a:solidFill>
              </a:defRPr>
            </a:pPr>
            <a:r>
              <a:t>• Commuters receive real-time ward-level flood depth advisories before entering low-lying saucer roads.</a:t>
            </a:r>
          </a:p>
          <a:p>
            <a:pPr>
              <a:spcAft>
                <a:spcPts val="150"/>
              </a:spcAft>
              <a:defRPr sz="850">
                <a:solidFill>
                  <a:srgbClr val="F8FAFC"/>
                </a:solidFill>
              </a:defRPr>
            </a:pPr>
            <a:r>
              <a:t>• Prevents vehicle engine hydrostatic lock and multi-hour traffic gridlocks.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57600"/>
            <a:ext cx="5285232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794760"/>
            <a:ext cx="49194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</a:defRPr>
            </a:pPr>
            <a:r>
              <a:t>URBAN PLANNERS &amp; RESILIENCE</a:t>
            </a:r>
          </a:p>
          <a:p>
            <a:pPr>
              <a:spcAft>
                <a:spcPts val="150"/>
              </a:spcAft>
              <a:defRPr sz="850">
                <a:solidFill>
                  <a:srgbClr val="F8FAFC"/>
                </a:solidFill>
              </a:defRPr>
            </a:pPr>
            <a:r>
              <a:t>• Pinpoints chronic civil engineering bottlenecks for post-monsoon box-drain augmentation.</a:t>
            </a:r>
          </a:p>
          <a:p>
            <a:pPr>
              <a:spcAft>
                <a:spcPts val="150"/>
              </a:spcAft>
              <a:defRPr sz="850">
                <a:solidFill>
                  <a:srgbClr val="F8FAFC"/>
                </a:solidFill>
              </a:defRPr>
            </a:pPr>
            <a:r>
              <a:t>• Crowdsourced citizen grievance reporting feeds ground-truth data back into the digital twin.</a:t>
            </a:r>
          </a:p>
          <a:p>
            <a:pPr>
              <a:spcAft>
                <a:spcPts val="150"/>
              </a:spcAft>
              <a:defRPr sz="850">
                <a:solidFill>
                  <a:srgbClr val="F8FAFC"/>
                </a:solidFill>
              </a:defRPr>
            </a:pPr>
            <a:r>
              <a:t>• High-ROI infrastructure capital allocation based on verified hydraulic simulation.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943600"/>
            <a:ext cx="10728655" cy="548640"/>
          </a:xfrm>
          <a:prstGeom prst="roundRect">
            <a:avLst/>
          </a:prstGeom>
          <a:solidFill>
            <a:srgbClr val="182630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9893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A855F7"/>
                </a:solidFill>
              </a:defRPr>
            </a:pPr>
            <a:r>
              <a:t>CORE IMPACT: Zero Subway Drowning Fatalities  •  40-60% Reduction in Flood Property Loss  •  45-Min Flood Recovery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6B6D4"/>
                </a:solidFill>
                <a:latin typeface="Calibri"/>
              </a:defRPr>
            </a:pPr>
            <a:r>
              <a:t>PS ID: 26085 | MOES / NCMRWF | THEME: DISASTER MANAGEMENT</a:t>
            </a:r>
          </a:p>
          <a:p>
            <a:pPr>
              <a:defRPr sz="2000" b="1">
                <a:solidFill>
                  <a:srgbClr val="F8FAFC"/>
                </a:solidFill>
                <a:latin typeface="Calibri"/>
              </a:defRPr>
            </a:pPr>
            <a:r>
              <a:t>Scientific Grounding, Hydrological Standards &amp;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0" y="3657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13455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0476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6B6D4"/>
                </a:solidFill>
              </a:defRPr>
            </a:pPr>
            <a:r>
              <a:t>HYDROLOGICAL &amp; GOVT STANDARDS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CPHEEO Manual on Storm Water Drainage</a:t>
            </a:r>
          </a:p>
          <a:p>
            <a:pPr>
              <a:spcAft>
                <a:spcPts val="400"/>
              </a:spcAft>
              <a:defRPr sz="800">
                <a:solidFill>
                  <a:srgbClr val="F8FAFC"/>
                </a:solidFill>
              </a:defRPr>
            </a:pPr>
            <a:r>
              <a:t>Ministry of Housing and Urban Affairs (MoHUA), Govt of India. Standards for Rational Method runoff coefficients (C=0.88) and Manning's pipe roughness (n=0.015).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NDMA National Guidelines on Urban Flooding</a:t>
            </a:r>
          </a:p>
          <a:p>
            <a:pPr>
              <a:spcAft>
                <a:spcPts val="400"/>
              </a:spcAft>
              <a:defRPr sz="800">
                <a:solidFill>
                  <a:srgbClr val="F8FAFC"/>
                </a:solidFill>
              </a:defRPr>
            </a:pPr>
            <a:r>
              <a:t>National Disaster Management Authority (NDMA). Standard Operating Protocols for urban nowcasting lead times and emergency dewatering pump allocations.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Mumbai Town Hall Datum (THD) Survey</a:t>
            </a:r>
          </a:p>
          <a:p>
            <a:pPr>
              <a:spcAft>
                <a:spcPts val="400"/>
              </a:spcAft>
              <a:defRPr sz="800">
                <a:solidFill>
                  <a:srgbClr val="F8FAFC"/>
                </a:solidFill>
              </a:defRPr>
            </a:pPr>
            <a:r>
              <a:t>Municipal Corporation of Greater Mumbai (MCGM) official vertical survey datum for high-tide (+3.5m) flap-gate locking thresholds.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413455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08760"/>
            <a:ext cx="30476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PEER-REVIEWED RESEARCH PAPERS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FlowsDT (2025)</a:t>
            </a:r>
          </a:p>
          <a:p>
            <a:pPr>
              <a:spcAft>
                <a:spcPts val="400"/>
              </a:spcAft>
              <a:defRPr sz="800">
                <a:solidFill>
                  <a:srgbClr val="F8FAFC"/>
                </a:solidFill>
              </a:defRPr>
            </a:pPr>
            <a:r>
              <a:t>Geospatial Digital Twin Framework for Real-Time Urban Flood Nowcasting and Surface-Subsurface Coupling, Journal of Hydrology.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DUALFloodGNN (2025)</a:t>
            </a:r>
          </a:p>
          <a:p>
            <a:pPr>
              <a:spcAft>
                <a:spcPts val="400"/>
              </a:spcAft>
              <a:defRPr sz="800">
                <a:solidFill>
                  <a:srgbClr val="F8FAFC"/>
                </a:solidFill>
              </a:defRPr>
            </a:pPr>
            <a:r>
              <a:t>Physics-Informed Graph Neural Networks for Rapid Urban Flood Inundation Modeling in Dense Metros, IEEE Trans. Geospatial Data.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Physics-Informed Surfacing (2025)</a:t>
            </a:r>
          </a:p>
          <a:p>
            <a:pPr>
              <a:spcAft>
                <a:spcPts val="400"/>
              </a:spcAft>
              <a:defRPr sz="800">
                <a:solidFill>
                  <a:srgbClr val="F8FAFC"/>
                </a:solidFill>
              </a:defRPr>
            </a:pPr>
            <a:r>
              <a:t>Data Assimilation and Physics-Coupled Hydraulic Surfacing for Metro Disasters, Remote Sensing of Environment (Vol. 17).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413455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08760"/>
            <a:ext cx="30476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DATASETS &amp; CARTOGRAPHY SERVICES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Mumbai AWS &amp; Tide Logs (2021-2024)</a:t>
            </a:r>
          </a:p>
          <a:p>
            <a:pPr>
              <a:spcAft>
                <a:spcPts val="400"/>
              </a:spcAft>
              <a:defRPr sz="800">
                <a:solidFill>
                  <a:srgbClr val="F8FAFC"/>
                </a:solidFill>
              </a:defRPr>
            </a:pPr>
            <a:r>
              <a:t>69,720 hourly rainfall records from Santacruz/Colaba AWS + 1,940 Arabian Sea tide observations used to train &amp; evaluate the ML ensemble.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MCGM Chronic Waterlogging Hotspot Register</a:t>
            </a:r>
          </a:p>
          <a:p>
            <a:pPr>
              <a:spcAft>
                <a:spcPts val="400"/>
              </a:spcAft>
              <a:defRPr sz="800">
                <a:solidFill>
                  <a:srgbClr val="F8FAFC"/>
                </a:solidFill>
              </a:defRPr>
            </a:pPr>
            <a:r>
              <a:t>72 verified chronic saucer locations, elevations, primary causes, and historical flood depth records.</a:t>
            </a:r>
          </a:p>
          <a:p>
            <a:pPr>
              <a:defRPr sz="900" b="1">
                <a:solidFill>
                  <a:srgbClr val="38BDF8"/>
                </a:solidFill>
              </a:defRPr>
            </a:pPr>
            <a:r>
              <a:t>▶ Esri ArcGIS Online Services &amp; Open-Meteo</a:t>
            </a:r>
          </a:p>
          <a:p>
            <a:pPr>
              <a:spcAft>
                <a:spcPts val="400"/>
              </a:spcAft>
              <a:defRPr sz="800">
                <a:solidFill>
                  <a:srgbClr val="F8FAFC"/>
                </a:solidFill>
              </a:defRPr>
            </a:pPr>
            <a:r>
              <a:t>World Street Map, Dark Gray Canvas, and High-Resolution Satellite Basemaps with zero watermarks.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06440"/>
            <a:ext cx="10728655" cy="640080"/>
          </a:xfrm>
          <a:prstGeom prst="roundRect">
            <a:avLst/>
          </a:prstGeom>
          <a:solidFill>
            <a:srgbClr val="182630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All methodologies, equations, datasets, and prototype architectures are open-source and fully traceable to the repository at github.com/sahil5812/mumbai-urban-digital-twin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