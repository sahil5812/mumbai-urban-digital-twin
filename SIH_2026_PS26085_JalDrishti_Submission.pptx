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SMART INDIA HACKATHON 2026  •  OFFICIAL IDEA SUBMISSION  •  PROBLEM STATEMENT ID: 26085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F8FAFC"/>
                </a:solidFill>
                <a:latin typeface="Calibri"/>
              </a:defRPr>
            </a:pPr>
            <a:r>
              <a:t>JAL-DRISHTI</a:t>
            </a:r>
          </a:p>
          <a:p>
            <a:pPr>
              <a:spcAft>
                <a:spcPts val="80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Urban Flood Nowcasting System via Surface-Subsurface Hydraulic Coupling</a:t>
            </a:r>
          </a:p>
          <a:p>
            <a:pPr>
              <a:defRPr sz="1250" i="1">
                <a:solidFill>
                  <a:srgbClr val="94A3B8"/>
                </a:solidFill>
                <a:latin typeface="Calibri"/>
              </a:defRPr>
            </a:pPr>
            <a:r>
              <a:t>“See the Flood Before It Happens — Coupling Doppler Nowcasts, 2D DEM Topography, and Underground Drainage Graphs for Hyper-Local Inundation Prediction &amp; Emergency Routing”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3413455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023360"/>
            <a:ext cx="29562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A855F7"/>
                </a:solidFill>
                <a:latin typeface="Calibri"/>
              </a:defRPr>
            </a:pPr>
            <a:r>
              <a:t>ORGANIZATION &amp; THEME</a:t>
            </a:r>
          </a:p>
          <a:p>
            <a:pPr>
              <a:defRPr sz="1050">
                <a:solidFill>
                  <a:srgbClr val="F8FAFC"/>
                </a:solidFill>
                <a:latin typeface="Calibri"/>
              </a:defRPr>
            </a:pPr>
            <a:r>
              <a:t>Ministry of Earth Sciences (MoES)</a:t>
            </a:r>
            <a:br/>
            <a:r>
              <a:t>NCMRWF • Disaster Management</a:t>
            </a:r>
            <a:br/>
            <a:r>
              <a:t>Category: Software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840480"/>
            <a:ext cx="3413455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4023360"/>
            <a:ext cx="29562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Calibri"/>
              </a:defRPr>
            </a:pPr>
            <a:r>
              <a:t>KEY TECHNICAL INNOVATION</a:t>
            </a:r>
          </a:p>
          <a:p>
            <a:pPr>
              <a:defRPr sz="1050">
                <a:solidFill>
                  <a:srgbClr val="F8FAFC"/>
                </a:solidFill>
                <a:latin typeface="Calibri"/>
              </a:defRPr>
            </a:pPr>
            <a:r>
              <a:t>Coupling Rational Runoff + 2D DEM Slope</a:t>
            </a:r>
            <a:br/>
            <a:r>
              <a:t>+ Manning's Pipe Hydraulics + Tidal Lock</a:t>
            </a:r>
            <a:br/>
            <a:r>
              <a:t>+ 0-180m Forecast Timeline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840480"/>
            <a:ext cx="3413455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4023360"/>
            <a:ext cx="29562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TEAM INFORMATION</a:t>
            </a:r>
          </a:p>
          <a:p>
            <a:pPr>
              <a:defRPr sz="1050">
                <a:solidFill>
                  <a:srgbClr val="F8FAFC"/>
                </a:solidFill>
                <a:latin typeface="Calibri"/>
              </a:defRPr>
            </a:pPr>
            <a:r>
              <a:t>Team Name: [Your Team Name]</a:t>
            </a:r>
            <a:br/>
            <a:r>
              <a:t>Team ID: [Your Team ID / SIH-26085]</a:t>
            </a:r>
            <a:br/>
            <a:r>
              <a:t>Lead: [Team Leader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6B6D4"/>
                </a:solidFill>
                <a:latin typeface="Calibri"/>
              </a:defRPr>
            </a:pPr>
            <a:r>
              <a:t>PS ID: 26085 | MOES / NCMRWF | THEME: DISASTER MANAGEMENT</a:t>
            </a:r>
          </a:p>
          <a:p>
            <a:pPr>
              <a:defRPr sz="2000" b="1">
                <a:solidFill>
                  <a:srgbClr val="F8FAFC"/>
                </a:solidFill>
                <a:latin typeface="Calibri"/>
              </a:defRPr>
            </a:pPr>
            <a:r>
              <a:t>From Rainfall Forecast to Street-Level Flood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Calibri"/>
              </a:defRPr>
            </a:pPr>
            <a:r>
              <a:t>2/6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26182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</a:defRPr>
            </a:pPr>
            <a:r>
              <a:t>THE PROBLEM: WHY REGIONAL WEATHER FORECASTS FAIL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Traditional NWP models answer 'How much rain is coming?' over a macro 25km² grid, but cannot predict which street will submerge.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Urban flooding is hyper-local: governed by saucer depressions (Milan / Hindmata), concrete runoff (C=0.88), and choked underground drains.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Municipal disaster bodies lack real-time street-level predictive tools, causing traffic gridlocks, stranded ambulances, and economic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10252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OUR SOLUTION: COUPLED SURFACE-SUBSURFACE NOWCASTING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Fuses rainfall nowcasts with 2D DEM slope routing, Manning's pipe hydraulics, and Arabian Sea tidal backflow lock (&gt;3.5m).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Predicts exact street inundation depth (cm) across 0–3h forward windows (T+0, +15m, +30m, +60m, +120m, +180m).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ML-assisted Voting Regressor (RF + GBR) delivers sub-50ms inference for 41 real Mumbai infrastructure nodes.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Inundation-Aware Dijkstra Emergency Detours steer ambulances and transit away from submerged underpasses.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3369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48764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END-TO-END PHYSICAL COUPLING PIPELINE</a:t>
            </a:r>
          </a:p>
          <a:p>
            <a:pPr>
              <a:spcAft>
                <a:spcPts val="300"/>
              </a:spcAft>
              <a:defRPr sz="900">
                <a:solidFill>
                  <a:srgbClr val="F8FAFC"/>
                </a:solidFill>
              </a:defRPr>
            </a:pPr>
            <a:r>
              <a:t>▶ 1. RAINFALL NOWCAST (0-3h): Ingests real-time precipitation streams &amp; 15-min radar forecast intervals</a:t>
            </a:r>
          </a:p>
          <a:p>
            <a:pPr>
              <a:spcAft>
                <a:spcPts val="300"/>
              </a:spcAft>
              <a:defRPr sz="900">
                <a:solidFill>
                  <a:srgbClr val="F8FAFC"/>
                </a:solidFill>
              </a:defRPr>
            </a:pPr>
            <a:r>
              <a:t>▶ 2. RUNOFF HYDROLOGY: Rational Method (Q = CIA/3.6) modeling dense urban concrete imperviousness (C=0.88)</a:t>
            </a:r>
          </a:p>
          <a:p>
            <a:pPr>
              <a:spcAft>
                <a:spcPts val="300"/>
              </a:spcAft>
              <a:defRPr sz="900">
                <a:solidFill>
                  <a:srgbClr val="F8FAFC"/>
                </a:solidFill>
              </a:defRPr>
            </a:pPr>
            <a:r>
              <a:t>▶ 3. 2D DEM TOPOGRAPHY: D8 Flow Direction &amp; Slope Gradient (ΔZ/ΔX) routing runoff into saucer depressions</a:t>
            </a:r>
          </a:p>
          <a:p>
            <a:pPr>
              <a:spcAft>
                <a:spcPts val="300"/>
              </a:spcAft>
              <a:defRPr sz="900">
                <a:solidFill>
                  <a:srgbClr val="F8FAFC"/>
                </a:solidFill>
              </a:defRPr>
            </a:pPr>
            <a:r>
              <a:t>▶ 4. DRAINAGE HYDRAULICS: Manning's open-channel capacity + siltation reduction + Arabian Sea tide lock (&gt;3.5m)</a:t>
            </a:r>
          </a:p>
          <a:p>
            <a:pPr>
              <a:spcAft>
                <a:spcPts val="300"/>
              </a:spcAft>
              <a:defRPr sz="900">
                <a:solidFill>
                  <a:srgbClr val="F8FAFC"/>
                </a:solidFill>
              </a:defRPr>
            </a:pPr>
            <a:r>
              <a:t>▶ 5. ML DEPTH PREDICTION: Ensemble Regressor estimating street-level water depth in cm &amp; failure risk %</a:t>
            </a:r>
          </a:p>
          <a:p>
            <a:pPr>
              <a:spcAft>
                <a:spcPts val="300"/>
              </a:spcAft>
              <a:defRPr sz="900">
                <a:solidFill>
                  <a:srgbClr val="F8FAFC"/>
                </a:solidFill>
              </a:defRPr>
            </a:pPr>
            <a:r>
              <a:t>▶ 6. 3D GIS DIGITAL TWIN: GPU-accelerated Deck.gl v9 + MapLibre GL 3D extruded columns &amp; 360° drone orbit</a:t>
            </a:r>
          </a:p>
          <a:p>
            <a:pPr>
              <a:spcAft>
                <a:spcPts val="300"/>
              </a:spcAft>
              <a:defRPr sz="900">
                <a:solidFill>
                  <a:srgbClr val="F8FAFC"/>
                </a:solidFill>
              </a:defRPr>
            </a:pPr>
            <a:r>
              <a:t>▶ 7. FLOOD-AWARE ROUTING: Dijkstra routing with dynamic flood cost penalties (depth ≥50cm → 9999 cost)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5349240"/>
            <a:ext cx="4967935" cy="822960"/>
          </a:xfrm>
          <a:prstGeom prst="roundRect">
            <a:avLst/>
          </a:prstGeom>
          <a:solidFill>
            <a:srgbClr val="1826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94960"/>
            <a:ext cx="47850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CORE INNOVATION: Physical Coupling of Sky (Radar), Surface (2D DEM), Subsurface (Manning's Drains), and Maritime Tide in One Real-Time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6B6D4"/>
                </a:solidFill>
                <a:latin typeface="Calibri"/>
              </a:defRPr>
            </a:pPr>
            <a:r>
              <a:t>PS ID: 26085 | MOES / NCMRWF | THEME: DISASTER MANAGEMENT</a:t>
            </a:r>
          </a:p>
          <a:p>
            <a:pPr>
              <a:defRPr sz="2000" b="1">
                <a:solidFill>
                  <a:srgbClr val="F8FAFC"/>
                </a:solidFill>
                <a:latin typeface="Calibri"/>
              </a:defRPr>
            </a:pPr>
            <a:r>
              <a:t>Technical Architecture &amp; Physics-Informed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Calibri"/>
              </a:defRPr>
            </a:pPr>
            <a:r>
              <a:t>3/6</a:t>
            </a:r>
          </a:p>
        </p:txBody>
      </p:sp>
      <p:pic>
        <p:nvPicPr>
          <p:cNvPr id="4" name="Picture 3" descr="urban_flood_architecture_diagram_17880243308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6B6D4"/>
                </a:solidFill>
                <a:latin typeface="Calibri"/>
              </a:defRPr>
            </a:pPr>
            <a:r>
              <a:t>PS ID: 26085 | MOES / NCMRWF | THEME: DISASTER MANAGEMENT</a:t>
            </a:r>
          </a:p>
          <a:p>
            <a:pPr>
              <a:defRPr sz="2000" b="1">
                <a:solidFill>
                  <a:srgbClr val="F8FAFC"/>
                </a:solidFill>
                <a:latin typeface="Calibri"/>
              </a:defRPr>
            </a:pPr>
            <a:r>
              <a:t>Feasibility Analysis, Risks &amp; Mitigation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Calibri"/>
              </a:defRPr>
            </a:pPr>
            <a:r>
              <a:t>4/6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8BDF8"/>
                </a:solidFill>
              </a:defRPr>
            </a:pPr>
            <a:r>
              <a:t>THREE-DIMENSIONAL FEASIBILITY VALIDATION</a:t>
            </a:r>
          </a:p>
          <a:p>
            <a:pPr>
              <a:spcAft>
                <a:spcPts val="200"/>
              </a:spcAft>
              <a:defRPr sz="900">
                <a:solidFill>
                  <a:srgbClr val="F8FAFC"/>
                </a:solidFill>
              </a:defRPr>
            </a:pPr>
            <a:r>
              <a:t>• TECHNICAL: Sub-50ms Python ML inference + WebGL GPU client rendering guarantees zero lag in emergency command rooms.</a:t>
            </a:r>
          </a:p>
          <a:p>
            <a:pPr>
              <a:spcAft>
                <a:spcPts val="200"/>
              </a:spcAft>
              <a:defRPr sz="900">
                <a:solidFill>
                  <a:srgbClr val="F8FAFC"/>
                </a:solidFill>
              </a:defRPr>
            </a:pPr>
            <a:r>
              <a:t>• OPERATIONAL: Direct REST API integration with municipal Disaster Management Control Rooms (BMC DMCR) &amp; Traffic Police.</a:t>
            </a:r>
          </a:p>
          <a:p>
            <a:pPr>
              <a:spcAft>
                <a:spcPts val="200"/>
              </a:spcAft>
              <a:defRPr sz="900">
                <a:solidFill>
                  <a:srgbClr val="F8FAFC"/>
                </a:solidFill>
              </a:defRPr>
            </a:pPr>
            <a:r>
              <a:t>• MULTI-CITY SCALABILITY: Decoupled modular design allows instant deployment in Delhi (Yamuna) or Chennai (Adyar/Cooum) by swapping DEM &amp; drainage GIS shapefiles.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10728655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628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REAL-WORLD MUNICIPAL CHALLENGES &amp; OUR MITIGATION ARCHITECTURE</a:t>
            </a:r>
          </a:p>
          <a:p>
            <a:pPr>
              <a:spcAft>
                <a:spcPts val="250"/>
              </a:spcAft>
              <a:defRPr sz="850">
                <a:solidFill>
                  <a:srgbClr val="F8FAFC"/>
                </a:solidFill>
              </a:defRPr>
            </a:pPr>
            <a:r>
              <a:t>▶ Incomplete Subsurface Drainage Blueprints: Hybrid Fallback: Where pipe blueprints exist, Manning's flow is computed; where unmapped, DEM slope flow accumulation &amp; historical chronic waterlogging clusters take over.</a:t>
            </a:r>
          </a:p>
          <a:p>
            <a:pPr>
              <a:spcAft>
                <a:spcPts val="250"/>
              </a:spcAft>
              <a:defRPr sz="850">
                <a:solidFill>
                  <a:srgbClr val="F8FAFC"/>
                </a:solidFill>
              </a:defRPr>
            </a:pPr>
            <a:r>
              <a:t>▶ National Radar Feed Pipeline Latency: 15-minute forward predictive nowcast slots coupled with client-side wall-clock epoch timestamp countdowns ensure continuous early warning without lag.</a:t>
            </a:r>
          </a:p>
          <a:p>
            <a:pPr>
              <a:spcAft>
                <a:spcPts val="250"/>
              </a:spcAft>
              <a:defRPr sz="850">
                <a:solidFill>
                  <a:srgbClr val="F8FAFC"/>
                </a:solidFill>
              </a:defRPr>
            </a:pPr>
            <a:r>
              <a:t>▶ Extreme Cloudburst Outliers (&gt;200mm/h): Physics-based hydraulic ceiling (Rational Method) enforces conservation-of-mass upper bounds, preventing ML runaway over-predictions.</a:t>
            </a:r>
          </a:p>
          <a:p>
            <a:pPr>
              <a:spcAft>
                <a:spcPts val="250"/>
              </a:spcAft>
              <a:defRPr sz="850">
                <a:solidFill>
                  <a:srgbClr val="F8FAFC"/>
                </a:solidFill>
              </a:defRPr>
            </a:pPr>
            <a:r>
              <a:t>▶ Citywide Emergency Traffic Surges: Lightweight Next.js server-side API edge reverse proxy + stateless FastAPI Uvicorn backend capable of multi-core horizontal clustering.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8655" cy="1005840"/>
          </a:xfrm>
          <a:prstGeom prst="roundRect">
            <a:avLst/>
          </a:prstGeom>
          <a:solidFill>
            <a:srgbClr val="1420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PRODUCTION DEPLOYMENT ROADMAP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Phase 1 (Current Prototype): 41-node Mumbai model with 0-3h nowcasting &amp; safe routing  ▶  Phase 2 (3 Months): Direct IMD S-Band Radar binary HDF5 parser &amp; PostGIS multi-ward database  ▶  Phase 3 (6 Months): Integration with BMC DMCR and state disaster management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6B6D4"/>
                </a:solidFill>
                <a:latin typeface="Calibri"/>
              </a:defRPr>
            </a:pPr>
            <a:r>
              <a:t>PS ID: 26085 | MOES / NCMRWF | THEME: DISASTER MANAGEMENT</a:t>
            </a:r>
          </a:p>
          <a:p>
            <a:pPr>
              <a:defRPr sz="2000" b="1">
                <a:solidFill>
                  <a:srgbClr val="F8FAFC"/>
                </a:solidFill>
                <a:latin typeface="Calibri"/>
              </a:defRPr>
            </a:pPr>
            <a:r>
              <a:t>Multi-Sector Socio-Economic Impact &amp; Urban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Calibri"/>
              </a:defRPr>
            </a:pPr>
            <a:r>
              <a:t>5/6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85232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1947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MUNICIPAL CORPORATIONS (BMC / MCGM)</a:t>
            </a:r>
          </a:p>
          <a:p>
            <a:pPr>
              <a:spcAft>
                <a:spcPts val="150"/>
              </a:spcAft>
              <a:defRPr sz="850">
                <a:solidFill>
                  <a:srgbClr val="F8FAFC"/>
                </a:solidFill>
              </a:defRPr>
            </a:pPr>
            <a:r>
              <a:t>• Shifts operations from reactive pumping (after 100cm flood) to predictive pre-charging (pumps armed 30m prior).</a:t>
            </a:r>
          </a:p>
          <a:p>
            <a:pPr>
              <a:spcAft>
                <a:spcPts val="150"/>
              </a:spcAft>
              <a:defRPr sz="850">
                <a:solidFill>
                  <a:srgbClr val="F8FAFC"/>
                </a:solidFill>
              </a:defRPr>
            </a:pPr>
            <a:r>
              <a:t>• Automated TOPSIS Priority Matrix ranks mobile pump dispatches by population density &amp; hospital access.</a:t>
            </a:r>
          </a:p>
          <a:p>
            <a:pPr>
              <a:spcAft>
                <a:spcPts val="150"/>
              </a:spcAft>
              <a:defRPr sz="850">
                <a:solidFill>
                  <a:srgbClr val="F8FAFC"/>
                </a:solidFill>
              </a:defRPr>
            </a:pPr>
            <a:r>
              <a:t>• Eliminates drainage surcharge damage via real-time sluice-gate coordination.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85232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08760"/>
            <a:ext cx="491947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</a:defRPr>
            </a:pPr>
            <a:r>
              <a:t>EMERGENCY SERVICES &amp; HEALTHCARE</a:t>
            </a:r>
          </a:p>
          <a:p>
            <a:pPr>
              <a:spcAft>
                <a:spcPts val="150"/>
              </a:spcAft>
              <a:defRPr sz="850">
                <a:solidFill>
                  <a:srgbClr val="F8FAFC"/>
                </a:solidFill>
              </a:defRPr>
            </a:pPr>
            <a:r>
              <a:t>• Inundation-Aware Routing API (/api/graph/safe-route) steers ambulances away from flooded subways.</a:t>
            </a:r>
          </a:p>
          <a:p>
            <a:pPr>
              <a:spcAft>
                <a:spcPts val="150"/>
              </a:spcAft>
              <a:defRPr sz="850">
                <a:solidFill>
                  <a:srgbClr val="F8FAFC"/>
                </a:solidFill>
              </a:defRPr>
            </a:pPr>
            <a:r>
              <a:t>• Guarantees uninterrupted hospital transit corridors during peak monsoon downpours.</a:t>
            </a:r>
          </a:p>
          <a:p>
            <a:pPr>
              <a:spcAft>
                <a:spcPts val="150"/>
              </a:spcAft>
              <a:defRPr sz="850">
                <a:solidFill>
                  <a:srgbClr val="F8FAFC"/>
                </a:solidFill>
              </a:defRPr>
            </a:pPr>
            <a:r>
              <a:t>• Real-time road passability index (PCI &amp; water depth) prevents vehicle drowning.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5285232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491947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PUBLIC TRANSIT &amp; COMMUTERS</a:t>
            </a:r>
          </a:p>
          <a:p>
            <a:pPr>
              <a:spcAft>
                <a:spcPts val="150"/>
              </a:spcAft>
              <a:defRPr sz="850">
                <a:solidFill>
                  <a:srgbClr val="F8FAFC"/>
                </a:solidFill>
              </a:defRPr>
            </a:pPr>
            <a:r>
              <a:t>• Advance 30-60 min alerts enable BEST bus diversion and suburban railway track water protection.</a:t>
            </a:r>
          </a:p>
          <a:p>
            <a:pPr>
              <a:spcAft>
                <a:spcPts val="150"/>
              </a:spcAft>
              <a:defRPr sz="850">
                <a:solidFill>
                  <a:srgbClr val="F8FAFC"/>
                </a:solidFill>
              </a:defRPr>
            </a:pPr>
            <a:r>
              <a:t>• Commuters receive real-time ward-level flood depth advisories before entering low-lying saucer roads.</a:t>
            </a:r>
          </a:p>
          <a:p>
            <a:pPr>
              <a:spcAft>
                <a:spcPts val="150"/>
              </a:spcAft>
              <a:defRPr sz="850">
                <a:solidFill>
                  <a:srgbClr val="F8FAFC"/>
                </a:solidFill>
              </a:defRPr>
            </a:pPr>
            <a:r>
              <a:t>• Prevents vehicle engine hydrostatic lock and multi-hour traffic gridlocks.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657600"/>
            <a:ext cx="5285232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794760"/>
            <a:ext cx="491947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URBAN PLANNERS &amp; RESILIENCE</a:t>
            </a:r>
          </a:p>
          <a:p>
            <a:pPr>
              <a:spcAft>
                <a:spcPts val="150"/>
              </a:spcAft>
              <a:defRPr sz="850">
                <a:solidFill>
                  <a:srgbClr val="F8FAFC"/>
                </a:solidFill>
              </a:defRPr>
            </a:pPr>
            <a:r>
              <a:t>• Pinpoints chronic civil engineering bottlenecks for post-monsoon box-drain augmentation.</a:t>
            </a:r>
          </a:p>
          <a:p>
            <a:pPr>
              <a:spcAft>
                <a:spcPts val="150"/>
              </a:spcAft>
              <a:defRPr sz="850">
                <a:solidFill>
                  <a:srgbClr val="F8FAFC"/>
                </a:solidFill>
              </a:defRPr>
            </a:pPr>
            <a:r>
              <a:t>• Crowdsourced citizen grievance reporting feeds ground-truth data back into the digital twin.</a:t>
            </a:r>
          </a:p>
          <a:p>
            <a:pPr>
              <a:spcAft>
                <a:spcPts val="150"/>
              </a:spcAft>
              <a:defRPr sz="850">
                <a:solidFill>
                  <a:srgbClr val="F8FAFC"/>
                </a:solidFill>
              </a:defRPr>
            </a:pPr>
            <a:r>
              <a:t>• High-ROI infrastructure capital allocation based on verified hydraulic simulation.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943600"/>
            <a:ext cx="10728655" cy="548640"/>
          </a:xfrm>
          <a:prstGeom prst="roundRect">
            <a:avLst/>
          </a:prstGeom>
          <a:solidFill>
            <a:srgbClr val="18263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9893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CORE IMPACT: Zero Subway Drowning Fatalities  •  40-60% Reduction in Flood Property Loss  •  45-Min Flood Recovery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6B6D4"/>
                </a:solidFill>
                <a:latin typeface="Calibri"/>
              </a:defRPr>
            </a:pPr>
            <a:r>
              <a:t>PS ID: 26085 | MOES / NCMRWF | THEME: DISASTER MANAGEMENT</a:t>
            </a:r>
          </a:p>
          <a:p>
            <a:pPr>
              <a:defRPr sz="2000" b="1">
                <a:solidFill>
                  <a:srgbClr val="F8FAFC"/>
                </a:solidFill>
                <a:latin typeface="Calibri"/>
              </a:defRPr>
            </a:pPr>
            <a:r>
              <a:t>Scientific Grounding, Hydrological Standards &amp;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134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</a:defRPr>
            </a:pPr>
            <a:r>
              <a:t>HYDROLOGICAL &amp; GOVT STANDARDS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▶ CPHEEO Manual on Storm Water Drainage</a:t>
            </a:r>
          </a:p>
          <a:p>
            <a:pPr>
              <a:spcAft>
                <a:spcPts val="400"/>
              </a:spcAft>
              <a:defRPr sz="800">
                <a:solidFill>
                  <a:srgbClr val="F8FAFC"/>
                </a:solidFill>
              </a:defRPr>
            </a:pPr>
            <a:r>
              <a:t>Ministry of Housing and Urban Affairs (MoHUA), Govt of India. Standards for Rational Method runoff coefficients (C=0.88) and Manning's pipe roughness (n=0.015).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▶ NDMA National Guidelines on Urban Flooding</a:t>
            </a:r>
          </a:p>
          <a:p>
            <a:pPr>
              <a:spcAft>
                <a:spcPts val="400"/>
              </a:spcAft>
              <a:defRPr sz="800">
                <a:solidFill>
                  <a:srgbClr val="F8FAFC"/>
                </a:solidFill>
              </a:defRPr>
            </a:pPr>
            <a:r>
              <a:t>National Disaster Management Authority (NDMA). Standard Operating Protocols for urban nowcasting lead times and emergency dewatering pump allocations.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▶ Mumbai Town Hall Datum (THD) Survey</a:t>
            </a:r>
          </a:p>
          <a:p>
            <a:pPr>
              <a:spcAft>
                <a:spcPts val="400"/>
              </a:spcAft>
              <a:defRPr sz="800">
                <a:solidFill>
                  <a:srgbClr val="F8FAFC"/>
                </a:solidFill>
              </a:defRPr>
            </a:pPr>
            <a:r>
              <a:t>Municipal Corporation of Greater Mumbai (MCGM) official vertical survey datum for high-tide (+3.5m) flap-gate locking thresholds.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134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PEER-REVIEWED RESEARCH PAPERS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▶ FlowsDT (2025)</a:t>
            </a:r>
          </a:p>
          <a:p>
            <a:pPr>
              <a:spcAft>
                <a:spcPts val="400"/>
              </a:spcAft>
              <a:defRPr sz="800">
                <a:solidFill>
                  <a:srgbClr val="F8FAFC"/>
                </a:solidFill>
              </a:defRPr>
            </a:pPr>
            <a:r>
              <a:t>Geospatial Digital Twin Framework for Real-Time Urban Flood Nowcasting and Surface-Subsurface Coupling, Journal of Hydrology.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▶ DUALFloodGNN (2025)</a:t>
            </a:r>
          </a:p>
          <a:p>
            <a:pPr>
              <a:spcAft>
                <a:spcPts val="400"/>
              </a:spcAft>
              <a:defRPr sz="800">
                <a:solidFill>
                  <a:srgbClr val="F8FAFC"/>
                </a:solidFill>
              </a:defRPr>
            </a:pPr>
            <a:r>
              <a:t>Physics-Informed Graph Neural Networks for Rapid Urban Flood Inundation Modeling in Dense Metros, IEEE Trans. Geospatial Data.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▶ Physics-Informed Surfacing (2025)</a:t>
            </a:r>
          </a:p>
          <a:p>
            <a:pPr>
              <a:spcAft>
                <a:spcPts val="400"/>
              </a:spcAft>
              <a:defRPr sz="800">
                <a:solidFill>
                  <a:srgbClr val="F8FAFC"/>
                </a:solidFill>
              </a:defRPr>
            </a:pPr>
            <a:r>
              <a:t>Data Assimilation and Physics-Coupled Hydraulic Surfacing for Metro Disasters, Remote Sensing of Environment (Vol. 17).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134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DATASETS &amp; CARTOGRAPHY SERVICES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▶ Mumbai AWS &amp; Tide Logs (2021-2024)</a:t>
            </a:r>
          </a:p>
          <a:p>
            <a:pPr>
              <a:spcAft>
                <a:spcPts val="400"/>
              </a:spcAft>
              <a:defRPr sz="800">
                <a:solidFill>
                  <a:srgbClr val="F8FAFC"/>
                </a:solidFill>
              </a:defRPr>
            </a:pPr>
            <a:r>
              <a:t>69,720 hourly rainfall records from Santacruz/Colaba AWS + 1,940 Arabian Sea tide observations used to train &amp; evaluate the ML ensemble.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▶ MCGM Chronic Waterlogging Hotspot Register</a:t>
            </a:r>
          </a:p>
          <a:p>
            <a:pPr>
              <a:spcAft>
                <a:spcPts val="400"/>
              </a:spcAft>
              <a:defRPr sz="800">
                <a:solidFill>
                  <a:srgbClr val="F8FAFC"/>
                </a:solidFill>
              </a:defRPr>
            </a:pPr>
            <a:r>
              <a:t>72 verified chronic saucer locations, elevations, primary causes, and historical flood depth records.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▶ Esri ArcGIS Online Services &amp; Open-Meteo</a:t>
            </a:r>
          </a:p>
          <a:p>
            <a:pPr>
              <a:spcAft>
                <a:spcPts val="400"/>
              </a:spcAft>
              <a:defRPr sz="800">
                <a:solidFill>
                  <a:srgbClr val="F8FAFC"/>
                </a:solidFill>
              </a:defRPr>
            </a:pPr>
            <a:r>
              <a:t>World Street Map, Dark Gray Canvas, and High-Resolution Satellite Basemaps with zero watermarks.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728655" cy="640080"/>
          </a:xfrm>
          <a:prstGeom prst="roundRect">
            <a:avLst/>
          </a:prstGeom>
          <a:solidFill>
            <a:srgbClr val="1826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</a:defRPr>
            </a:pPr>
            <a:r>
              <a:t>All methodologies, equations, datasets, and prototype architectures are open-source and fully traceable to the repository at github.com/sahil5812/mumbai-urban-digital-twin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